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65" r:id="rId6"/>
    <p:sldId id="267" r:id="rId7"/>
    <p:sldId id="259" r:id="rId8"/>
    <p:sldId id="268" r:id="rId9"/>
    <p:sldId id="261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老师，下午好。我是[你的姓名]。今天我将向各位汇报我在本次三轮考核中的实践过程与成果。本次汇报将围绕两大核心：一是我所构建的“多模态商品智能系统”，二是我在整个开发过程中所采用的“AI协作开发”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考核分为三个阶段，从基础算法到工程实践，再到核心项目构建。我全部完成了提交，部分进阶功能虽然因环境问题未能完美调通，但核心逻辑已实现。在整个过程中，我采用了AI协作开发的模式，让AI成为我高效的副驾驶，而我则专注于更高层次的架构设计和问题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9BE9-D6BB-747D-C537-4243CCCE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2F5186-5507-2EA2-CD2F-05B90F4C28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274BE-713D-3E03-3FEB-1BEC46140F4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D650835-4D50-4334-0C60-D49ADF6BB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316799-C475-BD1E-7BD1-186A90EB3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BC318-E2A4-296B-EE31-FCF94DD1BF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23DBE-D383-85EA-B6CE-CCFB844D7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3894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轮考核是本次汇报的核心。我设计并实现了一个完整的多模态商品检索系统，它不仅支持基础的图文检索，还尝试了零样本分类和Agent对话。这个项目让我完整地实践了从数据预处理到在线服务的工程化流程，并深入理解了多模态系统的核心组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遇到了不少技术挑战，比如环境配置、检索不准等问题。通过系统性的排查和学习，我逐一解决了这些问题。例如，通过增加归一化步骤，我显著提升了检索准确率。这些经历让我收获了宝贵的问题解决经验，这也是我本次实践中成长最快的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最后，再次感谢工作室提供的这次宝贵的考核机会，也感谢各位评委老师的聆听与指导。我的汇报到此结束，谢谢大家！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jpe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小A工作室考核汇报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AI组应用方向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汇报人：林晋诚   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2000" b="1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时    间：2026 年 5 月 6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06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考核任务概览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92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1000"/>
              </a:spcBef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▍考核一：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SVM分类与数据标准化分析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MLP多分类与AI辅助调参实践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▍考核二：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提示词工程实践与迭代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•大模型本地部署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▍考核三：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CLIP 多模态内容检索系统搭建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Agent 智能体集成与对话式检索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2006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基础准备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921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1000"/>
              </a:spcBef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深度学习基础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Python与数据分析</a:t>
            </a: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机器学习流程</a:t>
            </a: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深度学习基础</a:t>
            </a: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🔧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AI协作基础</a:t>
            </a:r>
            <a:endParaRPr lang="en-US" sz="16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结构化提示词</a:t>
            </a: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prompt迭代优化</a:t>
            </a: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🚀 </a:t>
            </a:r>
            <a:r>
              <a:rPr lang="en-US" sz="15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学习方法</a:t>
            </a:r>
            <a:endParaRPr lang="en-US" sz="15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以必要基础入门</a:t>
            </a: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用项目驱动学习</a:t>
            </a: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032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26500" y="2006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AI协作开发 (Vibe Coding)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921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1000"/>
              </a:spcBef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👤 我的角色：架构师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设计架构、拆解问题、验证调试</a:t>
            </a:r>
          </a:p>
          <a:p>
            <a:pPr indent="0" algn="l">
              <a:lnSpc>
                <a:spcPct val="108333"/>
              </a:lnSpc>
              <a:spcBef>
                <a:spcPts val="1800"/>
              </a:spcBef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的角色：“超级副驾驶”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生成代码、实现模块、排错建议</a:t>
            </a:r>
          </a:p>
          <a:p>
            <a:pPr indent="0" algn="l">
              <a:lnSpc>
                <a:spcPct val="108333"/>
              </a:lnSpc>
              <a:spcBef>
                <a:spcPts val="1800"/>
              </a:spcBef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🔄 协作模式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结构化提示词驱动，人机高效协同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考核一：基础任务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zh-CN" altLang="en-US" sz="32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手写完成）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36600" y="1397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625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SVM分类与数据标准化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117600" y="23114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zh-CN" altLang="en-US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划分训练集和测试集</a:t>
            </a:r>
            <a:endParaRPr lang="en-US" dirty="0"/>
          </a:p>
          <a:p>
            <a:pPr indent="0" algn="l">
              <a:lnSpc>
                <a:spcPct val="108333"/>
              </a:lnSpc>
            </a:pPr>
            <a:r>
              <a:rPr lang="en-US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zh-CN" altLang="en-US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</a:t>
            </a:r>
            <a:r>
              <a:rPr lang="en-US" altLang="zh-CN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matplotlib</a:t>
            </a: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绘制三维散点图</a:t>
            </a:r>
            <a:endParaRPr lang="en-US" altLang="zh-CN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altLang="zh-CN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调用</a:t>
            </a:r>
            <a:r>
              <a:rPr lang="en-US" altLang="zh-CN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svc</a:t>
            </a: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进行</a:t>
            </a:r>
            <a:r>
              <a:rPr lang="en-US" altLang="zh-CN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fit_predict</a:t>
            </a: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并验证准确率</a:t>
            </a:r>
            <a:endParaRPr lang="en-US" altLang="zh-CN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altLang="zh-CN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调用</a:t>
            </a:r>
            <a:r>
              <a:rPr lang="en-US" altLang="zh-CN" dirty="0" err="1"/>
              <a:t>StandardScaler</a:t>
            </a:r>
            <a:r>
              <a:rPr lang="zh-CN" altLang="en-US" dirty="0"/>
              <a:t>进行标准化</a:t>
            </a:r>
            <a:endParaRPr lang="en-US" altLang="zh-CN" dirty="0"/>
          </a:p>
          <a:p>
            <a:pPr>
              <a:lnSpc>
                <a:spcPct val="108333"/>
              </a:lnSpc>
            </a:pPr>
            <a:r>
              <a:rPr lang="en-US" altLang="zh-CN" dirty="0"/>
              <a:t>5.</a:t>
            </a:r>
            <a:r>
              <a:rPr lang="zh-CN" altLang="en-US" dirty="0"/>
              <a:t>对标准化后数据进行分类并统计结果和比较</a:t>
            </a:r>
            <a:endParaRPr lang="en-US" altLang="zh-CN" dirty="0"/>
          </a:p>
          <a:p>
            <a:pPr indent="0" algn="l">
              <a:lnSpc>
                <a:spcPct val="108333"/>
              </a:lnSpc>
            </a:pPr>
            <a:endParaRPr lang="en-US" sz="17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79" y="3838218"/>
            <a:ext cx="5209621" cy="2983417"/>
          </a:xfrm>
          <a:prstGeom prst="roundRect">
            <a:avLst>
              <a:gd name="adj" fmla="val 9410"/>
            </a:avLst>
          </a:prstGeom>
          <a:ln w="12700">
            <a:noFill/>
            <a:prstDash val="solid"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A9D6101-D8F7-998E-9F3D-F880E8EEB670}"/>
              </a:ext>
            </a:extLst>
          </p:cNvPr>
          <p:cNvPicPr>
            <a:picLocks/>
          </p:cNvPicPr>
          <p:nvPr/>
        </p:nvPicPr>
        <p:blipFill>
          <a:blip r:embed="rId5"/>
          <a:srcRect l="8659" t="9154" r="2561" b="6961"/>
          <a:stretch>
            <a:fillRect/>
          </a:stretch>
        </p:blipFill>
        <p:spPr>
          <a:xfrm>
            <a:off x="6422508" y="1978634"/>
            <a:ext cx="4775200" cy="37191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14952-28DC-87E0-0EB8-6F0DA5FA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AutoShape 2">
            <a:extLst>
              <a:ext uri="{FF2B5EF4-FFF2-40B4-BE49-F238E27FC236}">
                <a16:creationId xmlns:a16="http://schemas.microsoft.com/office/drawing/2014/main" id="{52A63596-9A7F-6720-609A-09FD66992C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0205E6C-5A76-76B9-3974-BD92F9878FD4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考核一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进阶任务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altLang="zh-CN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</a:t>
            </a:r>
            <a:r>
              <a:rPr lang="zh-CN" altLang="en-US" sz="32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完成）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7F451A6-D70F-9DF2-FBBF-0B3A27E21246}"/>
              </a:ext>
            </a:extLst>
          </p:cNvPr>
          <p:cNvSpPr/>
          <p:nvPr/>
        </p:nvSpPr>
        <p:spPr>
          <a:xfrm>
            <a:off x="578514" y="1396999"/>
            <a:ext cx="4246526" cy="2820581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6930904-213C-3004-169F-EC1989BD01DE}"/>
              </a:ext>
            </a:extLst>
          </p:cNvPr>
          <p:cNvSpPr/>
          <p:nvPr/>
        </p:nvSpPr>
        <p:spPr>
          <a:xfrm>
            <a:off x="603913" y="1397000"/>
            <a:ext cx="93921" cy="2763874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C058DB5-62CF-5EC8-6AC5-F962AE92E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114" y="1651000"/>
            <a:ext cx="406400" cy="4064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950A2D3F-E962-689A-05E4-EC27503F6A34}"/>
              </a:ext>
            </a:extLst>
          </p:cNvPr>
          <p:cNvSpPr/>
          <p:nvPr/>
        </p:nvSpPr>
        <p:spPr>
          <a:xfrm>
            <a:off x="1492914" y="1625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</a:t>
            </a:r>
            <a:r>
              <a:rPr lang="en-US" altLang="zh-CN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ytorch</a:t>
            </a: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训练四分类模型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30E6EBF-EF0A-C500-26A7-6D0BD24732BF}"/>
              </a:ext>
            </a:extLst>
          </p:cNvPr>
          <p:cNvSpPr/>
          <p:nvPr/>
        </p:nvSpPr>
        <p:spPr>
          <a:xfrm>
            <a:off x="1117600" y="23114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</a:pPr>
            <a:endParaRPr lang="en-US" sz="17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342792-8C77-427A-A592-9AACC7C630F8}"/>
              </a:ext>
            </a:extLst>
          </p:cNvPr>
          <p:cNvSpPr txBox="1"/>
          <p:nvPr/>
        </p:nvSpPr>
        <p:spPr>
          <a:xfrm>
            <a:off x="802387" y="2235201"/>
            <a:ext cx="39287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这是我第一次尝试</a:t>
            </a:r>
            <a:r>
              <a:rPr lang="en-US" altLang="zh-CN" dirty="0"/>
              <a:t>vibe </a:t>
            </a:r>
            <a:r>
              <a:rPr lang="en-US" altLang="zh-CN" dirty="0" err="1"/>
              <a:t>cocding</a:t>
            </a:r>
            <a:r>
              <a:rPr lang="zh-CN" altLang="en-US" dirty="0"/>
              <a:t>完成任务。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首先拆解任务流程和关键点，明确完成的思路。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然后按照“角色设定</a:t>
            </a:r>
            <a:r>
              <a:rPr lang="en-US" altLang="zh-CN" dirty="0"/>
              <a:t>-</a:t>
            </a:r>
            <a:r>
              <a:rPr lang="zh-CN" altLang="en-US" dirty="0"/>
              <a:t>任务背景</a:t>
            </a:r>
            <a:r>
              <a:rPr lang="en-US" altLang="zh-CN" dirty="0"/>
              <a:t>-</a:t>
            </a:r>
            <a:r>
              <a:rPr lang="zh-CN" altLang="en-US" dirty="0"/>
              <a:t>执行流程</a:t>
            </a:r>
            <a:r>
              <a:rPr lang="en-US" altLang="zh-CN" dirty="0"/>
              <a:t>-</a:t>
            </a:r>
            <a:r>
              <a:rPr lang="zh-CN" altLang="en-US" dirty="0"/>
              <a:t>约束条件</a:t>
            </a:r>
            <a:r>
              <a:rPr lang="en-US" altLang="zh-CN" dirty="0"/>
              <a:t>-</a:t>
            </a:r>
            <a:r>
              <a:rPr lang="zh-CN" altLang="en-US" dirty="0"/>
              <a:t>输出要求”的结构打造和迭代提示词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最终借助 </a:t>
            </a:r>
            <a:r>
              <a:rPr lang="en-US" altLang="zh-CN" dirty="0"/>
              <a:t>AI </a:t>
            </a:r>
            <a:r>
              <a:rPr lang="zh-CN" altLang="en-US" dirty="0"/>
              <a:t>完成数据处理、模型搭建、训练调优与结果输出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最终结果：测试集准确率达到</a:t>
            </a:r>
            <a:r>
              <a:rPr lang="en-US" altLang="zh-CN" b="1" dirty="0"/>
              <a:t>94.24%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719FC9C-C1BC-8599-796C-5F3C42978E8D}"/>
              </a:ext>
            </a:extLst>
          </p:cNvPr>
          <p:cNvPicPr>
            <a:picLocks/>
          </p:cNvPicPr>
          <p:nvPr/>
        </p:nvPicPr>
        <p:blipFill>
          <a:blip r:embed="rId5"/>
          <a:srcRect r="7580"/>
          <a:stretch>
            <a:fillRect/>
          </a:stretch>
        </p:blipFill>
        <p:spPr>
          <a:xfrm>
            <a:off x="5219406" y="1396999"/>
            <a:ext cx="6667794" cy="4445001"/>
          </a:xfrm>
          <a:prstGeom prst="rect">
            <a:avLst/>
          </a:prstGeom>
        </p:spPr>
      </p:pic>
      <p:sp>
        <p:nvSpPr>
          <p:cNvPr id="28" name="AutoShape 4">
            <a:extLst>
              <a:ext uri="{FF2B5EF4-FFF2-40B4-BE49-F238E27FC236}">
                <a16:creationId xmlns:a16="http://schemas.microsoft.com/office/drawing/2014/main" id="{5555AD21-B73D-C6D0-D414-016949834E81}"/>
              </a:ext>
            </a:extLst>
          </p:cNvPr>
          <p:cNvSpPr/>
          <p:nvPr/>
        </p:nvSpPr>
        <p:spPr>
          <a:xfrm>
            <a:off x="625179" y="4700180"/>
            <a:ext cx="4199861" cy="640907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EE5F7AAD-6F5F-C4DA-6F29-46320C046C49}"/>
              </a:ext>
            </a:extLst>
          </p:cNvPr>
          <p:cNvSpPr/>
          <p:nvPr/>
        </p:nvSpPr>
        <p:spPr>
          <a:xfrm>
            <a:off x="603913" y="4700179"/>
            <a:ext cx="103226" cy="640907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F1F67D-EC22-6AD6-4AAF-CA5B4C3215DF}"/>
              </a:ext>
            </a:extLst>
          </p:cNvPr>
          <p:cNvSpPr txBox="1"/>
          <p:nvPr/>
        </p:nvSpPr>
        <p:spPr>
          <a:xfrm>
            <a:off x="1397000" y="4788711"/>
            <a:ext cx="2197100" cy="37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68F493-DD9A-F480-97CF-030A2E89979F}"/>
              </a:ext>
            </a:extLst>
          </p:cNvPr>
          <p:cNvSpPr txBox="1"/>
          <p:nvPr/>
        </p:nvSpPr>
        <p:spPr>
          <a:xfrm>
            <a:off x="762000" y="4788711"/>
            <a:ext cx="3879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我的贡献</a:t>
            </a:r>
            <a:r>
              <a:rPr lang="zh-CN" altLang="en-US" dirty="0"/>
              <a:t>：调参范围设计、约束条件制定、最终结果验证</a:t>
            </a:r>
          </a:p>
        </p:txBody>
      </p:sp>
    </p:spTree>
    <p:extLst>
      <p:ext uri="{BB962C8B-B14F-4D97-AF65-F5344CB8AC3E}">
        <p14:creationId xmlns:p14="http://schemas.microsoft.com/office/powerpoint/2010/main" val="75053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11" grpId="0"/>
      <p:bldP spid="28" grpId="0" animBg="1"/>
      <p:bldP spid="9" grpId="0" animBg="1"/>
      <p:bldP spid="10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03762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考核二：音乐播放器提示词迭代对比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5745" y="1510356"/>
            <a:ext cx="2759597" cy="4683459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11150" y="1521166"/>
            <a:ext cx="26797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93701" y="1796374"/>
            <a:ext cx="2562224" cy="37609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第一版摘要</a:t>
            </a:r>
            <a:endParaRPr lang="en-US" altLang="zh-CN" sz="20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endParaRPr lang="en-US" altLang="zh-CN" sz="1600" dirty="0">
              <a:solidFill>
                <a:srgbClr val="1F2329"/>
              </a:solidFill>
              <a:latin typeface="Noto Sans SC"/>
              <a:ea typeface="Noto Sans SC"/>
              <a:sym typeface="Noto Sans SC"/>
            </a:endParaRPr>
          </a:p>
          <a:p>
            <a:r>
              <a:rPr lang="zh-CN" altLang="en-US" sz="1200" b="1" dirty="0"/>
              <a:t>角色</a:t>
            </a:r>
            <a:br>
              <a:rPr lang="zh-CN" altLang="en-US" sz="1200" dirty="0"/>
            </a:br>
            <a:r>
              <a:rPr lang="zh-CN" altLang="en-US" sz="1200" dirty="0"/>
              <a:t>资深产品设计师（熟悉</a:t>
            </a:r>
            <a:r>
              <a:rPr lang="en-US" altLang="zh-CN" sz="1200" dirty="0"/>
              <a:t>UI/</a:t>
            </a:r>
            <a:r>
              <a:rPr lang="zh-CN" altLang="en-US" sz="1200" dirty="0"/>
              <a:t>前端）。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任务</a:t>
            </a:r>
            <a:br>
              <a:rPr lang="zh-CN" altLang="en-US" sz="1200" dirty="0"/>
            </a:br>
            <a:r>
              <a:rPr lang="en-US" altLang="zh-CN" sz="1200" dirty="0"/>
              <a:t>1. </a:t>
            </a:r>
            <a:r>
              <a:rPr lang="zh-CN" altLang="en-US" sz="1200" dirty="0"/>
              <a:t>设计音乐播放器网页界面，按顺序实现：</a:t>
            </a:r>
          </a:p>
          <a:p>
            <a:r>
              <a:rPr lang="en-US" altLang="zh-CN" sz="1200" dirty="0"/>
              <a:t>2. </a:t>
            </a:r>
            <a:r>
              <a:rPr lang="zh-CN" altLang="en-US" sz="1200" dirty="0"/>
              <a:t>顶部小字显示播放状态（“正在播放”</a:t>
            </a:r>
            <a:r>
              <a:rPr lang="en-US" altLang="zh-CN" sz="1200" dirty="0"/>
              <a:t>/“</a:t>
            </a:r>
            <a:r>
              <a:rPr lang="zh-CN" altLang="en-US" sz="1200" dirty="0"/>
              <a:t>播放暂停”）。</a:t>
            </a:r>
          </a:p>
          <a:p>
            <a:r>
              <a:rPr lang="en-US" altLang="zh-CN" sz="1200" dirty="0"/>
              <a:t>3. </a:t>
            </a:r>
            <a:r>
              <a:rPr lang="zh-CN" altLang="en-US" sz="1200" dirty="0"/>
              <a:t>下方正方形区域（圆角），中心有光碟孔样。</a:t>
            </a:r>
          </a:p>
          <a:p>
            <a:r>
              <a:rPr lang="en-US" altLang="zh-CN" sz="1200" dirty="0"/>
              <a:t>4. </a:t>
            </a:r>
            <a:r>
              <a:rPr lang="zh-CN" altLang="en-US" sz="1200" dirty="0"/>
              <a:t>曲名（加粗）：</a:t>
            </a:r>
            <a:r>
              <a:rPr lang="en-US" altLang="zh-CN" sz="1200" dirty="0"/>
              <a:t>《</a:t>
            </a:r>
            <a:r>
              <a:rPr lang="zh-CN" altLang="en-US" sz="1200" dirty="0"/>
              <a:t>二面其实也没那么难</a:t>
            </a:r>
            <a:r>
              <a:rPr lang="en-US" altLang="zh-CN" sz="1200" dirty="0"/>
              <a:t>》</a:t>
            </a:r>
            <a:r>
              <a:rPr lang="zh-CN" altLang="en-US" sz="1200" dirty="0"/>
              <a:t>。</a:t>
            </a:r>
          </a:p>
          <a:p>
            <a:r>
              <a:rPr lang="en-US" altLang="zh-CN" sz="1200" dirty="0"/>
              <a:t>5. </a:t>
            </a:r>
            <a:r>
              <a:rPr lang="zh-CN" altLang="en-US" sz="1200" dirty="0"/>
              <a:t>专辑信息：小</a:t>
            </a:r>
            <a:r>
              <a:rPr lang="en-US" altLang="zh-CN" sz="1200" dirty="0"/>
              <a:t>A</a:t>
            </a:r>
            <a:r>
              <a:rPr lang="zh-CN" altLang="en-US" sz="1200" dirty="0"/>
              <a:t>创新创业团队</a:t>
            </a:r>
            <a:r>
              <a:rPr lang="en-US" altLang="zh-CN" sz="1200" dirty="0"/>
              <a:t>·</a:t>
            </a:r>
            <a:r>
              <a:rPr lang="zh-CN" altLang="en-US" sz="1200" dirty="0"/>
              <a:t>这就是</a:t>
            </a:r>
            <a:r>
              <a:rPr lang="en-US" altLang="zh-CN" sz="1200" dirty="0"/>
              <a:t>AI </a:t>
            </a:r>
            <a:r>
              <a:rPr lang="zh-CN" altLang="en-US" sz="1200" dirty="0"/>
              <a:t>专辑。</a:t>
            </a:r>
          </a:p>
          <a:p>
            <a:r>
              <a:rPr lang="en-US" altLang="zh-CN" sz="1200" dirty="0"/>
              <a:t>6. </a:t>
            </a:r>
            <a:r>
              <a:rPr lang="zh-CN" altLang="en-US" sz="1200" dirty="0"/>
              <a:t>进度条：左侧当前时间，右侧总时长。</a:t>
            </a:r>
          </a:p>
          <a:p>
            <a:r>
              <a:rPr lang="en-US" altLang="zh-CN" sz="1200" dirty="0"/>
              <a:t>7. </a:t>
            </a:r>
            <a:r>
              <a:rPr lang="zh-CN" altLang="en-US" sz="1200" dirty="0"/>
              <a:t>三个按钮：上一首、暂停</a:t>
            </a:r>
            <a:r>
              <a:rPr lang="en-US" altLang="zh-CN" sz="1200" dirty="0"/>
              <a:t>/</a:t>
            </a:r>
            <a:r>
              <a:rPr lang="zh-CN" altLang="en-US" sz="1200" dirty="0"/>
              <a:t>继续、下一首。</a:t>
            </a:r>
          </a:p>
          <a:p>
            <a:r>
              <a:rPr lang="en-US" altLang="zh-CN" sz="1200" dirty="0"/>
              <a:t>8. </a:t>
            </a:r>
            <a:r>
              <a:rPr lang="zh-CN" altLang="en-US" sz="1200" dirty="0"/>
              <a:t>底部音量调节条。</a:t>
            </a:r>
          </a:p>
          <a:p>
            <a:br>
              <a:rPr lang="zh-CN" altLang="en-US" dirty="0"/>
            </a:br>
            <a:endParaRPr lang="en-US" sz="14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285459" y="1548457"/>
            <a:ext cx="2679572" cy="4683459"/>
          </a:xfrm>
          <a:prstGeom prst="roundRect">
            <a:avLst>
              <a:gd name="adj" fmla="val 347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326663" y="1543192"/>
            <a:ext cx="2606458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164745" y="5783092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初版效果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344150" y="1535757"/>
            <a:ext cx="2532356" cy="4683459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21187" y="1581292"/>
            <a:ext cx="2816481" cy="4683459"/>
          </a:xfrm>
          <a:prstGeom prst="roundRect">
            <a:avLst>
              <a:gd name="adj" fmla="val 38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174710" y="1581292"/>
            <a:ext cx="2685209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 l="6924" r="6924"/>
          <a:stretch>
            <a:fillRect/>
          </a:stretch>
        </p:blipFill>
        <p:spPr>
          <a:xfrm>
            <a:off x="9250490" y="1969633"/>
            <a:ext cx="2533650" cy="3587729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9200753" y="5783092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迭代后效果</a:t>
            </a:r>
            <a:endParaRPr lang="en-US" sz="11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8E9693A-41B4-D8AC-CD1D-7B6962493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006" y="1551052"/>
            <a:ext cx="2788446" cy="470440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9EBBE4F-1882-7987-0742-2FCD93AA0B21}"/>
              </a:ext>
            </a:extLst>
          </p:cNvPr>
          <p:cNvPicPr>
            <a:picLocks/>
          </p:cNvPicPr>
          <p:nvPr/>
        </p:nvPicPr>
        <p:blipFill>
          <a:blip r:embed="rId5"/>
          <a:srcRect l="5852" t="1671" r="5282" b="3643"/>
          <a:stretch>
            <a:fillRect/>
          </a:stretch>
        </p:blipFill>
        <p:spPr>
          <a:xfrm>
            <a:off x="3394978" y="1969633"/>
            <a:ext cx="2460534" cy="3664820"/>
          </a:xfrm>
          <a:prstGeom prst="roundRect">
            <a:avLst>
              <a:gd name="adj" fmla="val 5312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10" grpId="0"/>
      <p:bldP spid="11" grpId="0" animBg="1"/>
      <p:bldP spid="14" grpId="0" animBg="1"/>
      <p:bldP spid="15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考核二：Qwen</a:t>
            </a: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本地部署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60400" y="1651000"/>
            <a:ext cx="19685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1651000"/>
            <a:ext cx="19685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136900" y="1651000"/>
            <a:ext cx="46101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136900" y="1651000"/>
            <a:ext cx="46101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46150" y="2032000"/>
            <a:ext cx="1397000" cy="1778000"/>
          </a:xfrm>
          <a:prstGeom prst="roundRect">
            <a:avLst>
              <a:gd name="adj" fmla="val 727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63650" y="2159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009650" y="3048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Ollama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极速部署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轻量运行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54400" y="2032000"/>
            <a:ext cx="1397000" cy="1778000"/>
          </a:xfrm>
          <a:prstGeom prst="roundRect">
            <a:avLst>
              <a:gd name="adj" fmla="val 727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71900" y="2159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3517900" y="3048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ModelScope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深度定制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功能丰富</a:t>
            </a:r>
            <a:endParaRPr lang="en-US" sz="11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FE4386F-C955-37C3-C6AA-26CB7EC3F6A8}"/>
              </a:ext>
            </a:extLst>
          </p:cNvPr>
          <p:cNvSpPr txBox="1"/>
          <p:nvPr/>
        </p:nvSpPr>
        <p:spPr>
          <a:xfrm>
            <a:off x="912813" y="4191000"/>
            <a:ext cx="139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极简部署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启动极快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内存占用低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推理质量高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可定制性低</a:t>
            </a:r>
            <a:endParaRPr lang="en-US" altLang="zh-CN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198DB62-073B-69D6-6580-27B58B549C20}"/>
              </a:ext>
            </a:extLst>
          </p:cNvPr>
          <p:cNvSpPr txBox="1"/>
          <p:nvPr/>
        </p:nvSpPr>
        <p:spPr>
          <a:xfrm>
            <a:off x="3394074" y="4037558"/>
            <a:ext cx="1571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启动门槛稍高，需配置坏境和写部署代码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没有针对模型的默认封装优化和量化适配，启用表现一般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启动较慢，内存占用更高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F50B030-2F15-18D7-6FE3-D0F9A540210B}"/>
              </a:ext>
            </a:extLst>
          </p:cNvPr>
          <p:cNvCxnSpPr/>
          <p:nvPr/>
        </p:nvCxnSpPr>
        <p:spPr>
          <a:xfrm>
            <a:off x="5079999" y="1844675"/>
            <a:ext cx="44450" cy="41846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D8C317F-0D03-1362-4CD0-7FE51307DE84}"/>
              </a:ext>
            </a:extLst>
          </p:cNvPr>
          <p:cNvSpPr txBox="1"/>
          <p:nvPr/>
        </p:nvSpPr>
        <p:spPr>
          <a:xfrm>
            <a:off x="5216524" y="2744450"/>
            <a:ext cx="243840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定位不同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Ollama</a:t>
            </a:r>
            <a:r>
              <a:rPr lang="zh-CN" altLang="en-US" dirty="0"/>
              <a:t>为极简本地部署工具，针对开箱即用、流畅对话的核心目标做了</a:t>
            </a:r>
            <a:r>
              <a:rPr lang="en-US" altLang="zh-CN" dirty="0"/>
              <a:t>C++</a:t>
            </a:r>
            <a:r>
              <a:rPr lang="zh-CN" altLang="en-US" dirty="0"/>
              <a:t>底层加速、自动量化等极致优化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ModelScop</a:t>
            </a:r>
            <a:r>
              <a:rPr lang="zh-CN" altLang="en-US" dirty="0"/>
              <a:t>为面向开发者的全流程模型开发平台</a:t>
            </a:r>
            <a:endParaRPr lang="en-US" altLang="zh-CN" dirty="0"/>
          </a:p>
          <a:p>
            <a:r>
              <a:rPr lang="zh-CN" altLang="en-US" dirty="0"/>
              <a:t>服务于模型下载、训练微调、企业私有化部署等工程化场景</a:t>
            </a:r>
          </a:p>
          <a:p>
            <a:endParaRPr lang="zh-CN" altLang="en-US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02B7F6A6-18C2-EFA1-0717-82A08C1FD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8824" y="0"/>
            <a:ext cx="7804423" cy="6647214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DEE2F488-5E9B-FD30-E6A6-F62D88AFB3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7953" y="756784"/>
            <a:ext cx="5869285" cy="216247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CAA55EC6-F7CC-CF61-FE97-DCF3F1EF26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4925" y="3676045"/>
            <a:ext cx="6252661" cy="254353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7A377FF6-A78A-B250-1130-995247FE5CBB}"/>
              </a:ext>
            </a:extLst>
          </p:cNvPr>
          <p:cNvPicPr>
            <a:picLocks/>
          </p:cNvPicPr>
          <p:nvPr/>
        </p:nvPicPr>
        <p:blipFill>
          <a:blip r:embed="rId8"/>
          <a:srcRect r="43750"/>
          <a:stretch>
            <a:fillRect/>
          </a:stretch>
        </p:blipFill>
        <p:spPr>
          <a:xfrm>
            <a:off x="1302652" y="346295"/>
            <a:ext cx="9413363" cy="550336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65F1F092-216E-67C4-E497-1B2E20215A78}"/>
              </a:ext>
            </a:extLst>
          </p:cNvPr>
          <p:cNvPicPr>
            <a:picLocks/>
          </p:cNvPicPr>
          <p:nvPr/>
        </p:nvPicPr>
        <p:blipFill>
          <a:blip r:embed="rId9"/>
          <a:srcRect r="43822" b="2890"/>
          <a:stretch>
            <a:fillRect/>
          </a:stretch>
        </p:blipFill>
        <p:spPr>
          <a:xfrm>
            <a:off x="1172673" y="312799"/>
            <a:ext cx="10106514" cy="5503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考核三：多模态商品检索系统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01247" y="1363248"/>
            <a:ext cx="5334000" cy="5269284"/>
          </a:xfrm>
          <a:prstGeom prst="roundRect">
            <a:avLst>
              <a:gd name="adj" fmla="val 3157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605412"/>
            <a:ext cx="4826000" cy="22877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altLang="zh-CN" sz="1300" b="1" dirty="0">
              <a:solidFill>
                <a:srgbClr val="16A34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endParaRPr lang="en-US" altLang="zh-CN" sz="1300" b="1" i="0" u="none" strike="noStrike" dirty="0">
              <a:solidFill>
                <a:srgbClr val="16A34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altLang="en-US" sz="1600" b="1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四</a:t>
            </a:r>
            <a:r>
              <a:rPr lang="zh-CN" altLang="en-US" sz="16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sz="1600" b="1" i="0" u="none" strike="noStrike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工具函数</a:t>
            </a:r>
            <a:r>
              <a:rPr lang="en-US" sz="16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generate_product_id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()：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生成唯一ID</a:t>
            </a:r>
            <a:b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encode_text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()：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CLIP归一化编码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encode_image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(): 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CLIP归一化编码</a:t>
            </a:r>
            <a:endParaRPr lang="en-US" altLang="zh-CN" sz="1600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search_product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():  </a:t>
            </a:r>
            <a:r>
              <a:rPr lang="zh-CN" alt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search_text</a:t>
            </a:r>
            <a:r>
              <a:rPr lang="zh-CN" alt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接口检索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altLang="en-US" sz="16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七个</a:t>
            </a:r>
            <a:r>
              <a:rPr lang="en-US" altLang="zh-CN" sz="1600" b="1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F</a:t>
            </a:r>
            <a:r>
              <a:rPr lang="en-US" altLang="zh-CN" sz="1600" b="1" i="0" u="none" strike="noStrike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ast</a:t>
            </a:r>
            <a:r>
              <a:rPr lang="en-US" sz="1600" b="1" i="0" u="none" strike="noStrike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API接口</a:t>
            </a:r>
            <a:endParaRPr lang="en-US" sz="1600" b="1" i="0" u="none" strike="noStrike" dirty="0">
              <a:solidFill>
                <a:srgbClr val="16A34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GET/</a:t>
            </a:r>
            <a:r>
              <a:rPr 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 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提供前端页面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POST/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add_</a:t>
            </a:r>
            <a:r>
              <a:rPr lang="en-US" altLang="zh-CN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text</a:t>
            </a:r>
            <a:r>
              <a:rPr lang="zh-CN" alt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add_image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  </a:t>
            </a:r>
            <a:r>
              <a:rPr lang="zh-CN" alt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录入</a:t>
            </a:r>
            <a:b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POST/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search_text</a:t>
            </a:r>
            <a:r>
              <a:rPr lang="zh-CN" alt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altLang="zh-CN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search_image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检索</a:t>
            </a:r>
            <a:r>
              <a:rPr lang="zh-CN" alt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查询</a:t>
            </a:r>
            <a:endParaRPr lang="en-US" altLang="zh-CN" sz="1600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POST/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classify_image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  </a:t>
            </a:r>
            <a:r>
              <a:rPr lang="zh-CN" alt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零样本分类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POST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/chat： </a:t>
            </a:r>
            <a:r>
              <a:rPr lang="zh-CN" alt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</a:t>
            </a:r>
            <a:r>
              <a:rPr lang="en-US" altLang="zh-CN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agent</a:t>
            </a:r>
            <a:r>
              <a:rPr lang="zh-CN" alt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进行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智能对话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3. Agent</a:t>
            </a:r>
            <a:r>
              <a:rPr lang="zh-CN" altLang="en-US" sz="1600" b="1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初始化函数</a:t>
            </a:r>
            <a:endParaRPr lang="en-US" sz="1600" b="1" i="0" u="none" strike="noStrike" dirty="0">
              <a:solidFill>
                <a:srgbClr val="16A34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init_qwen_agent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()：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初始化大模型Agent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endParaRPr lang="en-US" sz="1600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r>
              <a:rPr lang="en-US" altLang="zh-CN" sz="1600" b="1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en-US" altLang="zh-CN" sz="1600" b="1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</a:t>
            </a:r>
            <a:r>
              <a:rPr lang="zh-CN" altLang="en-US" sz="1600" b="1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r>
              <a:rPr lang="en-US" altLang="zh-CN" sz="1600" b="1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库</a:t>
            </a:r>
          </a:p>
          <a:p>
            <a:r>
              <a:rPr lang="en-US" altLang="zh-CN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vevtor_db</a:t>
            </a:r>
            <a:r>
              <a:rPr lang="en-US" altLang="zh-CN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 </a:t>
            </a:r>
            <a:r>
              <a:rPr lang="en-US" altLang="zh-CN" sz="16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持久化存储，余弦相似度度量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334000" cy="5235532"/>
          </a:xfrm>
          <a:prstGeom prst="roundRect">
            <a:avLst>
              <a:gd name="adj" fmla="val 3157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536494" y="2092890"/>
            <a:ext cx="4826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</a:pPr>
            <a:endParaRPr lang="en-US" sz="1100" dirty="0"/>
          </a:p>
          <a:p>
            <a:pPr marL="342900" indent="-342900" latinLnBrk="1">
              <a:buAutoNum type="arabicPeriod"/>
            </a:pPr>
            <a:r>
              <a:rPr lang="zh-CN" altLang="en-US" sz="1600" b="1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录入商品</a:t>
            </a:r>
            <a:endParaRPr lang="en-US" altLang="zh-CN" sz="1600" b="1" dirty="0">
              <a:solidFill>
                <a:srgbClr val="1E40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342900" indent="-342900" latinLnBrk="1">
              <a:buAutoNum type="arabicPeriod"/>
            </a:pPr>
            <a:endParaRPr lang="en-US" altLang="zh-CN" sz="1600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latinLnBrk="1"/>
            <a:r>
              <a:rPr lang="en-US" altLang="zh-CN" sz="16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    </a:t>
            </a:r>
            <a:r>
              <a:rPr lang="zh-CN" altLang="en-US" sz="1600" dirty="0"/>
              <a:t>→ 前端调用 </a:t>
            </a:r>
            <a:r>
              <a:rPr lang="en-US" altLang="zh-CN" sz="1600" dirty="0"/>
              <a:t>POST /</a:t>
            </a:r>
            <a:r>
              <a:rPr lang="en-US" altLang="zh-CN" sz="1600" dirty="0" err="1"/>
              <a:t>add_text</a:t>
            </a:r>
            <a:r>
              <a:rPr lang="en-US" altLang="zh-CN" sz="1600" dirty="0"/>
              <a:t> </a:t>
            </a:r>
            <a:r>
              <a:rPr lang="zh-CN" altLang="en-US" sz="1600" dirty="0"/>
              <a:t>或 </a:t>
            </a:r>
            <a:r>
              <a:rPr lang="en-US" altLang="zh-CN" sz="1600" dirty="0"/>
              <a:t>/</a:t>
            </a:r>
            <a:r>
              <a:rPr lang="en-US" altLang="zh-CN" sz="1600" dirty="0" err="1"/>
              <a:t>add_image</a:t>
            </a:r>
            <a:endParaRPr lang="en-US" altLang="zh-CN" sz="1600" dirty="0"/>
          </a:p>
          <a:p>
            <a:pPr latinLnBrk="1"/>
            <a:r>
              <a:rPr lang="en-US" altLang="zh-CN" sz="1600" dirty="0"/>
              <a:t>   → </a:t>
            </a:r>
            <a:r>
              <a:rPr lang="zh-CN" altLang="en-US" sz="1600" dirty="0"/>
              <a:t>后端工具 </a:t>
            </a:r>
            <a:r>
              <a:rPr lang="en-US" altLang="zh-CN" sz="1600" dirty="0" err="1"/>
              <a:t>encode_text</a:t>
            </a:r>
            <a:r>
              <a:rPr lang="en-US" altLang="zh-CN" sz="1600" dirty="0"/>
              <a:t>/</a:t>
            </a:r>
            <a:r>
              <a:rPr lang="en-US" altLang="zh-CN" sz="1600" dirty="0" err="1"/>
              <a:t>encode_image</a:t>
            </a:r>
            <a:endParaRPr lang="en-US" altLang="zh-CN" sz="1600" dirty="0"/>
          </a:p>
          <a:p>
            <a:pPr latinLnBrk="1"/>
            <a:r>
              <a:rPr lang="en-US" altLang="zh-CN" sz="1600" dirty="0"/>
              <a:t>   → </a:t>
            </a:r>
            <a:r>
              <a:rPr lang="zh-CN" altLang="en-US" sz="1600" dirty="0"/>
              <a:t>向量存入 </a:t>
            </a:r>
            <a:r>
              <a:rPr lang="en-US" altLang="zh-CN" sz="1600" dirty="0" err="1"/>
              <a:t>ChromaDB</a:t>
            </a:r>
            <a:endParaRPr lang="en-US" altLang="zh-CN" sz="1600" dirty="0"/>
          </a:p>
          <a:p>
            <a:pPr indent="0" algn="l">
              <a:lnSpc>
                <a:spcPct val="116666"/>
              </a:lnSpc>
            </a:pP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latinLnBrk="1"/>
            <a:r>
              <a:rPr 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alt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检索相似商品</a:t>
            </a:r>
            <a:endParaRPr lang="en-US" altLang="zh-CN" sz="1600" b="1" i="0" u="none" strike="noStrike" dirty="0">
              <a:solidFill>
                <a:srgbClr val="1E40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latinLnBrk="1"/>
            <a:b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zh-CN" altLang="en-US" sz="1600" dirty="0"/>
              <a:t>→ 前端调用 </a:t>
            </a:r>
            <a:r>
              <a:rPr lang="en-US" altLang="zh-CN" sz="1600" dirty="0"/>
              <a:t>POST /</a:t>
            </a:r>
            <a:r>
              <a:rPr lang="en-US" altLang="zh-CN" sz="1600" dirty="0" err="1"/>
              <a:t>search_text</a:t>
            </a:r>
            <a:r>
              <a:rPr lang="en-US" altLang="zh-CN" sz="1600" dirty="0"/>
              <a:t> </a:t>
            </a:r>
            <a:r>
              <a:rPr lang="zh-CN" altLang="en-US" sz="1600" dirty="0"/>
              <a:t>或 </a:t>
            </a:r>
            <a:r>
              <a:rPr lang="en-US" altLang="zh-CN" sz="1600" dirty="0"/>
              <a:t>/</a:t>
            </a:r>
            <a:r>
              <a:rPr lang="en-US" altLang="zh-CN" sz="1600" dirty="0" err="1"/>
              <a:t>search_image</a:t>
            </a:r>
            <a:endParaRPr lang="en-US" altLang="zh-CN" sz="1600" dirty="0"/>
          </a:p>
          <a:p>
            <a:pPr latinLnBrk="1"/>
            <a:r>
              <a:rPr lang="en-US" altLang="zh-CN" sz="1600" dirty="0"/>
              <a:t>   → </a:t>
            </a:r>
            <a:r>
              <a:rPr lang="zh-CN" altLang="en-US" sz="1600" dirty="0"/>
              <a:t>后端工具 </a:t>
            </a:r>
            <a:r>
              <a:rPr lang="en-US" altLang="zh-CN" sz="1600" dirty="0" err="1"/>
              <a:t>encode_text</a:t>
            </a:r>
            <a:r>
              <a:rPr lang="en-US" altLang="zh-CN" sz="1600" dirty="0"/>
              <a:t>/</a:t>
            </a:r>
            <a:r>
              <a:rPr lang="en-US" altLang="zh-CN" sz="1600" dirty="0" err="1"/>
              <a:t>encode_image</a:t>
            </a:r>
            <a:endParaRPr lang="en-US" altLang="zh-CN" sz="1600" dirty="0"/>
          </a:p>
          <a:p>
            <a:pPr latinLnBrk="1"/>
            <a:r>
              <a:rPr lang="en-US" altLang="zh-CN" sz="1600" dirty="0"/>
              <a:t>   → </a:t>
            </a:r>
            <a:r>
              <a:rPr lang="en-US" altLang="zh-CN" sz="1600" dirty="0" err="1"/>
              <a:t>ChromaDB</a:t>
            </a:r>
            <a:r>
              <a:rPr lang="en-US" altLang="zh-CN" sz="1600" dirty="0"/>
              <a:t> </a:t>
            </a:r>
            <a:r>
              <a:rPr lang="zh-CN" altLang="en-US" sz="1600" dirty="0"/>
              <a:t>余弦检索 → 返回 </a:t>
            </a:r>
            <a:r>
              <a:rPr lang="en-US" altLang="zh-CN" sz="1600" dirty="0"/>
              <a:t>Top-5</a:t>
            </a:r>
          </a:p>
          <a:p>
            <a:pPr latinLnBrk="1"/>
            <a:r>
              <a:rPr lang="zh-CN" alt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   或 调用</a:t>
            </a:r>
            <a:r>
              <a:rPr lang="en-US" altLang="zh-CN" sz="1600" dirty="0"/>
              <a:t>/</a:t>
            </a:r>
            <a:r>
              <a:rPr lang="en-US" altLang="zh-CN" sz="1600" dirty="0" err="1"/>
              <a:t>classify_image</a:t>
            </a:r>
            <a:r>
              <a:rPr lang="en-US" altLang="zh-CN" sz="1600" dirty="0"/>
              <a:t> </a:t>
            </a:r>
            <a:r>
              <a:rPr lang="zh-CN" altLang="en-US" sz="1600" dirty="0"/>
              <a:t>→ 返回 </a:t>
            </a:r>
            <a:r>
              <a:rPr lang="en-US" altLang="zh-CN" sz="1600" dirty="0"/>
              <a:t>Top-5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latinLnBrk="1"/>
            <a:r>
              <a:rPr 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alt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altLang="zh-CN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Agent</a:t>
            </a:r>
            <a:r>
              <a:rPr lang="zh-CN" altLang="en-US" sz="16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对话</a:t>
            </a:r>
            <a:endParaRPr lang="en-US" altLang="zh-CN" sz="1600" b="1" i="0" u="none" strike="noStrike" dirty="0">
              <a:solidFill>
                <a:srgbClr val="1E40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latinLnBrk="1"/>
            <a:b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zh-CN" altLang="en-US" sz="1600" dirty="0"/>
              <a:t>→ 前端调用 </a:t>
            </a:r>
            <a:r>
              <a:rPr lang="en-US" altLang="zh-CN" sz="1600" dirty="0"/>
              <a:t>POST /chat</a:t>
            </a:r>
          </a:p>
          <a:p>
            <a:pPr latinLnBrk="1"/>
            <a:r>
              <a:rPr lang="en-US" altLang="zh-CN" sz="1600" dirty="0"/>
              <a:t>  → Agent </a:t>
            </a:r>
            <a:r>
              <a:rPr lang="zh-CN" altLang="en-US" sz="1600" dirty="0"/>
              <a:t>内部调用 </a:t>
            </a:r>
            <a:r>
              <a:rPr lang="en-US" altLang="zh-CN" sz="1600" dirty="0" err="1"/>
              <a:t>search_products</a:t>
            </a:r>
            <a:r>
              <a:rPr lang="en-US" altLang="zh-CN" sz="1600" dirty="0"/>
              <a:t> </a:t>
            </a:r>
            <a:r>
              <a:rPr lang="zh-CN" altLang="en-US" sz="1600" dirty="0"/>
              <a:t>工具</a:t>
            </a:r>
          </a:p>
          <a:p>
            <a:pPr latinLnBrk="1"/>
            <a:r>
              <a:rPr lang="zh-CN" altLang="en-US" sz="1600" dirty="0"/>
              <a:t>  → 工具调用 </a:t>
            </a:r>
            <a:r>
              <a:rPr lang="en-US" altLang="zh-CN" sz="1600" dirty="0"/>
              <a:t>/</a:t>
            </a:r>
            <a:r>
              <a:rPr lang="en-US" altLang="zh-CN" sz="1600" dirty="0" err="1"/>
              <a:t>search_text</a:t>
            </a:r>
            <a:r>
              <a:rPr lang="en-US" altLang="zh-CN" sz="1600" dirty="0"/>
              <a:t> </a:t>
            </a:r>
          </a:p>
          <a:p>
            <a:pPr latinLnBrk="1"/>
            <a:r>
              <a:rPr lang="en-US" altLang="zh-CN" sz="1600" dirty="0"/>
              <a:t>  → </a:t>
            </a:r>
            <a:r>
              <a:rPr lang="zh-CN" altLang="en-US" sz="1600" dirty="0"/>
              <a:t>返回结果 → </a:t>
            </a:r>
            <a:r>
              <a:rPr lang="en-US" altLang="zh-CN" sz="1600" dirty="0"/>
              <a:t>Agent </a:t>
            </a:r>
            <a:r>
              <a:rPr lang="zh-CN" altLang="en-US" sz="1600" dirty="0"/>
              <a:t>生成回复</a:t>
            </a:r>
          </a:p>
          <a:p>
            <a:pPr indent="0" algn="l">
              <a:lnSpc>
                <a:spcPct val="116666"/>
              </a:lnSpc>
            </a:pP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E0DC7FC-C96B-3FD1-7B71-10CB44E4D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47" y="1308837"/>
            <a:ext cx="8473858" cy="25931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271A2C5-7F90-FE3A-A418-A8CDA9AF0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875"/>
            <a:ext cx="9751554" cy="695083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E589E4B-5361-162E-CFC2-2A2CD9165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277" y="19404"/>
            <a:ext cx="7529991" cy="6958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6024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考核三：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核心困难与解决过程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78" r="78"/>
          <a:stretch>
            <a:fillRect/>
          </a:stretch>
        </p:blipFill>
        <p:spPr>
          <a:xfrm>
            <a:off x="10668000" y="4318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1519483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32589" y="1549400"/>
            <a:ext cx="3937000" cy="20326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457200" indent="-457200" algn="l">
              <a:lnSpc>
                <a:spcPct val="125000"/>
              </a:lnSpc>
              <a:buAutoNum type="arabicPeriod"/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</a:t>
            </a:r>
            <a:endParaRPr lang="en-US" sz="20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torch</a:t>
            </a:r>
            <a:r>
              <a:rPr lang="zh-CN" alt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altLang="zh-CN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torchvision</a:t>
            </a:r>
            <a:r>
              <a:rPr lang="en-US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版本不兼容、cuda锁死、numpy版本冲突</a:t>
            </a:r>
            <a:r>
              <a:rPr lang="zh-CN" alt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altLang="zh-CN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</a:t>
            </a:r>
            <a:r>
              <a:rPr lang="zh-CN" alt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精准匹配版本并手动降级冲突库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收获：</a:t>
            </a:r>
            <a:r>
              <a:rPr lang="en-US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掌握了Python环境管理的核心技能</a:t>
            </a:r>
            <a:r>
              <a:rPr 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2037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2037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212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32589" y="4521200"/>
            <a:ext cx="393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altLang="zh-CN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.  Agent</a:t>
            </a:r>
            <a:r>
              <a:rPr lang="zh-CN" alt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运行报错</a:t>
            </a:r>
            <a:endParaRPr lang="en-US" sz="20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b="1" dirty="0" err="1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问题</a:t>
            </a:r>
            <a:r>
              <a:rPr lang="en-US" dirty="0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：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依赖安装，版本问题，运行报错</a:t>
            </a:r>
            <a:endParaRPr lang="en-US" dirty="0">
              <a:latin typeface="Noto Sans SC" panose="020B0200000000000000" pitchFamily="34" charset="-122"/>
              <a:ea typeface="Noto Sans SC" panose="020B0200000000000000" pitchFamily="34" charset="-122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b="1" dirty="0" err="1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解决</a:t>
            </a:r>
            <a:r>
              <a:rPr lang="en-US" dirty="0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：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重装依赖，升级版本，微调解决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bug</a:t>
            </a:r>
            <a:endParaRPr lang="en-US" dirty="0">
              <a:latin typeface="Noto Sans SC" panose="020B0200000000000000" pitchFamily="34" charset="-122"/>
              <a:ea typeface="Noto Sans SC" panose="020B0200000000000000" pitchFamily="34" charset="-122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b="1" dirty="0" err="1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收获</a:t>
            </a:r>
            <a:r>
              <a:rPr lang="en-US" dirty="0" err="1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：锻炼了在复杂依赖网络中分析与定位问题的能力</a:t>
            </a:r>
            <a:r>
              <a:rPr lang="en-US" dirty="0">
                <a:latin typeface="Noto Sans SC" panose="020B0200000000000000" pitchFamily="34" charset="-122"/>
                <a:ea typeface="Noto Sans SC" panose="020B0200000000000000" pitchFamily="34" charset="-122"/>
                <a:sym typeface="Noto Sans SC"/>
              </a:rPr>
              <a:t>。</a:t>
            </a:r>
          </a:p>
        </p:txBody>
      </p:sp>
      <p:sp>
        <p:nvSpPr>
          <p:cNvPr id="21" name="AutoShape 4">
            <a:extLst>
              <a:ext uri="{FF2B5EF4-FFF2-40B4-BE49-F238E27FC236}">
                <a16:creationId xmlns:a16="http://schemas.microsoft.com/office/drawing/2014/main" id="{E17515DE-F4F7-4180-77BE-5A39DB1A4105}"/>
              </a:ext>
            </a:extLst>
          </p:cNvPr>
          <p:cNvSpPr/>
          <p:nvPr/>
        </p:nvSpPr>
        <p:spPr>
          <a:xfrm>
            <a:off x="6407960" y="1540024"/>
            <a:ext cx="5207000" cy="5076675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00056E79-21CB-130C-892D-BE9028BEFFDD}"/>
              </a:ext>
            </a:extLst>
          </p:cNvPr>
          <p:cNvSpPr/>
          <p:nvPr/>
        </p:nvSpPr>
        <p:spPr>
          <a:xfrm>
            <a:off x="6661960" y="1921877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当前存在的不足</a:t>
            </a:r>
            <a:endParaRPr lang="en-US" sz="110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DD6AD88-C4D0-2BC5-A950-9A14FA3CE907}"/>
              </a:ext>
            </a:extLst>
          </p:cNvPr>
          <p:cNvSpPr/>
          <p:nvPr/>
        </p:nvSpPr>
        <p:spPr>
          <a:xfrm>
            <a:off x="6661960" y="2683877"/>
            <a:ext cx="4699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47EEF8EC-FD8E-3874-91E6-2CF77ED95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2460" y="3001377"/>
            <a:ext cx="508000" cy="508000"/>
          </a:xfrm>
          <a:prstGeom prst="rect">
            <a:avLst/>
          </a:prstGeom>
        </p:spPr>
      </p:pic>
      <p:sp>
        <p:nvSpPr>
          <p:cNvPr id="25" name="AutoShape 8">
            <a:extLst>
              <a:ext uri="{FF2B5EF4-FFF2-40B4-BE49-F238E27FC236}">
                <a16:creationId xmlns:a16="http://schemas.microsoft.com/office/drawing/2014/main" id="{85A5915F-A1B7-D1AF-BD43-E796AD5D9CD6}"/>
              </a:ext>
            </a:extLst>
          </p:cNvPr>
          <p:cNvSpPr/>
          <p:nvPr/>
        </p:nvSpPr>
        <p:spPr>
          <a:xfrm>
            <a:off x="7550960" y="2874377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 </a:t>
            </a:r>
            <a:r>
              <a:rPr lang="en-US" sz="17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功能未完全跑通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最终定位为</a:t>
            </a:r>
            <a:r>
              <a:rPr lang="en-US" altLang="zh-CN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Qwen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模型与工具的兼容问题。模型将输入解析为含</a:t>
            </a:r>
            <a:r>
              <a:rPr lang="en-US" altLang="zh-CN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color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altLang="zh-CN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category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两个</a:t>
            </a:r>
            <a:r>
              <a:rPr lang="en-US" altLang="zh-CN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key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altLang="zh-CN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JSON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格式，而接口仅收纯文本</a:t>
            </a:r>
            <a:r>
              <a:rPr lang="en-US" altLang="zh-CN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query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286D9341-7F39-FA5A-839C-54D2EE3CCC74}"/>
              </a:ext>
            </a:extLst>
          </p:cNvPr>
          <p:cNvSpPr/>
          <p:nvPr/>
        </p:nvSpPr>
        <p:spPr>
          <a:xfrm>
            <a:off x="6661960" y="4461877"/>
            <a:ext cx="4699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10">
            <a:extLst>
              <a:ext uri="{FF2B5EF4-FFF2-40B4-BE49-F238E27FC236}">
                <a16:creationId xmlns:a16="http://schemas.microsoft.com/office/drawing/2014/main" id="{A24929DB-2A3D-DEEC-95EE-F5F838CE4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2460" y="4779377"/>
            <a:ext cx="508000" cy="508000"/>
          </a:xfrm>
          <a:prstGeom prst="rect">
            <a:avLst/>
          </a:prstGeom>
        </p:spPr>
      </p:pic>
      <p:sp>
        <p:nvSpPr>
          <p:cNvPr id="28" name="AutoShape 11">
            <a:extLst>
              <a:ext uri="{FF2B5EF4-FFF2-40B4-BE49-F238E27FC236}">
                <a16:creationId xmlns:a16="http://schemas.microsoft.com/office/drawing/2014/main" id="{DD58A339-3611-ACAC-C445-6E5DDDF7FCB3}"/>
              </a:ext>
            </a:extLst>
          </p:cNvPr>
          <p:cNvSpPr/>
          <p:nvPr/>
        </p:nvSpPr>
        <p:spPr>
          <a:xfrm>
            <a:off x="7550960" y="4652377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altLang="zh-CN" sz="17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/</a:t>
            </a:r>
            <a:r>
              <a:rPr lang="en-US" altLang="zh-CN" sz="1700" b="1" dirty="0" err="1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add_text</a:t>
            </a:r>
            <a:r>
              <a:rPr lang="en-US" altLang="zh-CN" sz="17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 </a:t>
            </a:r>
            <a:r>
              <a:rPr lang="zh-CN" altLang="en-US" sz="17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接口参数解析错误</a:t>
            </a:r>
            <a:endParaRPr lang="en-US" altLang="zh-CN" sz="1700" b="1" dirty="0">
              <a:solidFill>
                <a:srgbClr val="1F2937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已定位但未修复：前端发送和后端接收的参数格式不匹配。时间有限，优先保障核心检索和分类功能，后续再优化。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7E52BB-4923-ED5F-02EC-060269A9D7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631" y="575506"/>
            <a:ext cx="11142488" cy="5918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860E0D5-0555-195E-BED0-CE5B7CA165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388" y="4254500"/>
            <a:ext cx="12192000" cy="19254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0471B5A-455A-80BA-915D-E51E9D233F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388" y="67387"/>
            <a:ext cx="12192000" cy="379604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D542274-8041-126F-5B3D-135CF07D6C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040" y="3158008"/>
            <a:ext cx="10640910" cy="1352739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05F004C-3F79-5CB3-1F7A-AB8373F6E2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7040" y="2145859"/>
            <a:ext cx="11526859" cy="72400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1560C8EB-BF12-D1EA-1D98-3CEA11DEB3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1960" y="812800"/>
            <a:ext cx="12192000" cy="494929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E80F6C2-99E5-77B2-1B6C-39E23CBAA7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8966" y="20706"/>
            <a:ext cx="10988071" cy="6635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致 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感谢工作室提供的考核机会与资源支持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谢谢各位</a:t>
            </a:r>
            <a:r>
              <a:rPr lang="zh-CN" alt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评委老师和学长学姐</a:t>
            </a:r>
            <a:r>
              <a:rPr lang="en-US" sz="36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聆听</a:t>
            </a:r>
            <a:r>
              <a:rPr lang="en-US" sz="3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1044</Words>
  <Application>Microsoft Office PowerPoint</Application>
  <PresentationFormat>宽屏</PresentationFormat>
  <Paragraphs>161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晋诚 林</cp:lastModifiedBy>
  <cp:revision>19</cp:revision>
  <dcterms:modified xsi:type="dcterms:W3CDTF">2026-05-05T04:10:25Z</dcterms:modified>
</cp:coreProperties>
</file>